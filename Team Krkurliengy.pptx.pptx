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imes New Roman MT Bold" charset="1" panose="02030802070405020303"/>
      <p:regular r:id="rId17"/>
    </p:embeddedFont>
    <p:embeddedFont>
      <p:font typeface="Canva Sans" charset="1" panose="020B0503030501040103"/>
      <p:regular r:id="rId18"/>
    </p:embeddedFont>
    <p:embeddedFont>
      <p:font typeface="Times New Roman MT" charset="1" panose="02030502070405020303"/>
      <p:regular r:id="rId20"/>
    </p:embeddedFont>
    <p:embeddedFont>
      <p:font typeface="Canva Sans Bold" charset="1" panose="020B08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3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4.jpeg" Type="http://schemas.openxmlformats.org/officeDocument/2006/relationships/image"/><Relationship Id="rId4" Target="../media/VAG6s8ldqVQ.mp4" Type="http://schemas.openxmlformats.org/officeDocument/2006/relationships/video"/><Relationship Id="rId5" Target="../media/VAG6s8ldqVQ.mp4" Type="http://schemas.microsoft.com/office/2007/relationships/media"/><Relationship Id="rId6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7647">
            <a:off x="581004" y="666750"/>
            <a:ext cx="17127897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80073" y="9536058"/>
            <a:ext cx="17127855" cy="3810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385303">
            <a:off x="-3856051" y="5103785"/>
            <a:ext cx="8912251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85303">
            <a:off x="13233704" y="5103785"/>
            <a:ext cx="8912251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28700" y="6126629"/>
            <a:ext cx="9962599" cy="4973917"/>
            <a:chOff x="0" y="0"/>
            <a:chExt cx="11062953" cy="55232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62953" cy="5523279"/>
            </a:xfrm>
            <a:custGeom>
              <a:avLst/>
              <a:gdLst/>
              <a:ahLst/>
              <a:cxnLst/>
              <a:rect r="r" b="b" t="t" l="l"/>
              <a:pathLst>
                <a:path h="5523279" w="11062953">
                  <a:moveTo>
                    <a:pt x="0" y="0"/>
                  </a:moveTo>
                  <a:lnTo>
                    <a:pt x="11062953" y="0"/>
                  </a:lnTo>
                  <a:lnTo>
                    <a:pt x="11062953" y="5523279"/>
                  </a:lnTo>
                  <a:lnTo>
                    <a:pt x="0" y="55232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00025"/>
              <a:ext cx="11062953" cy="572330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038"/>
                </a:lnSpc>
              </a:pPr>
              <a:r>
                <a:rPr lang="en-US" sz="2998" b="true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Team Karkurleingy</a:t>
              </a:r>
            </a:p>
            <a:p>
              <a:pPr algn="l">
                <a:lnSpc>
                  <a:spcPts val="5038"/>
                </a:lnSpc>
              </a:pPr>
            </a:p>
            <a:p>
              <a:pPr algn="l">
                <a:lnSpc>
                  <a:spcPts val="4870"/>
                </a:lnSpc>
              </a:pPr>
              <a:r>
                <a:rPr lang="en-US" b="true" sz="2898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Syed Wajdan Zeerak </a:t>
              </a:r>
            </a:p>
            <a:p>
              <a:pPr algn="l">
                <a:lnSpc>
                  <a:spcPts val="4870"/>
                </a:lnSpc>
              </a:pPr>
              <a:r>
                <a:rPr lang="en-US" b="true" sz="2898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Syed Zainish Fatima</a:t>
              </a:r>
            </a:p>
            <a:p>
              <a:pPr algn="l">
                <a:lnSpc>
                  <a:spcPts val="4870"/>
                </a:lnSpc>
              </a:pPr>
              <a:r>
                <a:rPr lang="en-US" b="true" sz="2898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hadia Naveed</a:t>
              </a:r>
            </a:p>
            <a:p>
              <a:pPr algn="l">
                <a:lnSpc>
                  <a:spcPts val="487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140446" y="3218347"/>
            <a:ext cx="1212670" cy="1434341"/>
          </a:xfrm>
          <a:custGeom>
            <a:avLst/>
            <a:gdLst/>
            <a:ahLst/>
            <a:cxnLst/>
            <a:rect r="r" b="b" t="t" l="l"/>
            <a:pathLst>
              <a:path h="1434341" w="1212670">
                <a:moveTo>
                  <a:pt x="0" y="0"/>
                </a:moveTo>
                <a:lnTo>
                  <a:pt x="1212671" y="0"/>
                </a:lnTo>
                <a:lnTo>
                  <a:pt x="1212671" y="1434342"/>
                </a:lnTo>
                <a:lnTo>
                  <a:pt x="0" y="14343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553623" y="9636276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44255" y="3563471"/>
            <a:ext cx="11209322" cy="667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4"/>
              </a:lnSpc>
              <a:spcBef>
                <a:spcPct val="0"/>
              </a:spcBef>
            </a:pPr>
            <a:r>
              <a:rPr lang="en-US" b="true" sz="392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BidWiz: The Autonomous Proposal Architect.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812741" y="1028700"/>
            <a:ext cx="1506242" cy="1137213"/>
          </a:xfrm>
          <a:custGeom>
            <a:avLst/>
            <a:gdLst/>
            <a:ahLst/>
            <a:cxnLst/>
            <a:rect r="r" b="b" t="t" l="l"/>
            <a:pathLst>
              <a:path h="1137213" w="1506242">
                <a:moveTo>
                  <a:pt x="0" y="0"/>
                </a:moveTo>
                <a:lnTo>
                  <a:pt x="1506242" y="0"/>
                </a:lnTo>
                <a:lnTo>
                  <a:pt x="1506242" y="1137213"/>
                </a:lnTo>
                <a:lnTo>
                  <a:pt x="0" y="11372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7647">
            <a:off x="581004" y="666750"/>
            <a:ext cx="17127897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80073" y="9536058"/>
            <a:ext cx="17127855" cy="3810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385303">
            <a:off x="-3856051" y="5103785"/>
            <a:ext cx="8912251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85303">
            <a:off x="13233704" y="5103785"/>
            <a:ext cx="8912251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7553623" y="9636276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55997" y="1195131"/>
            <a:ext cx="11852629" cy="117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4"/>
              </a:lnSpc>
              <a:spcBef>
                <a:spcPct val="0"/>
              </a:spcBef>
            </a:pPr>
            <a:r>
              <a:rPr lang="en-US" b="true" sz="687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</a:t>
            </a:r>
            <a:r>
              <a:rPr lang="en-US" b="true" sz="687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roblem Statement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06464" y="3850816"/>
            <a:ext cx="10092349" cy="4733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579" indent="-37779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</a:t>
            </a:r>
            <a:r>
              <a:rPr lang="en-US" b="true" sz="34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 Billion-Dollar Copy-Paste Problem</a:t>
            </a:r>
          </a:p>
          <a:p>
            <a:pPr algn="l" marL="712400" indent="-356200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Enterprise sales teams spend 30-40% of their time manually answering RFP questionnaires1.</a:t>
            </a:r>
          </a:p>
          <a:p>
            <a:pPr algn="l" marL="712400" indent="-356200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Cost: Billions lost in productivity and missed deadlines.</a:t>
            </a:r>
          </a:p>
          <a:p>
            <a:pPr algn="l" marL="712400" indent="-356200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Gap: Current tools are just "Search Engines." They don't do the work.</a:t>
            </a:r>
          </a:p>
          <a:p>
            <a:pPr algn="l">
              <a:lnSpc>
                <a:spcPts val="4619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812741" y="1028700"/>
            <a:ext cx="1506242" cy="1137213"/>
          </a:xfrm>
          <a:custGeom>
            <a:avLst/>
            <a:gdLst/>
            <a:ahLst/>
            <a:cxnLst/>
            <a:rect r="r" b="b" t="t" l="l"/>
            <a:pathLst>
              <a:path h="1137213" w="1506242">
                <a:moveTo>
                  <a:pt x="0" y="0"/>
                </a:moveTo>
                <a:lnTo>
                  <a:pt x="1506242" y="0"/>
                </a:lnTo>
                <a:lnTo>
                  <a:pt x="1506242" y="1137213"/>
                </a:lnTo>
                <a:lnTo>
                  <a:pt x="0" y="11372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7647">
            <a:off x="581004" y="666750"/>
            <a:ext cx="17127897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80073" y="9536058"/>
            <a:ext cx="17127855" cy="3810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385303">
            <a:off x="-3856051" y="5103785"/>
            <a:ext cx="8912251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85303">
            <a:off x="13233704" y="5103785"/>
            <a:ext cx="8912251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7553623" y="9636276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55997" y="1195131"/>
            <a:ext cx="11852629" cy="117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4"/>
              </a:lnSpc>
              <a:spcBef>
                <a:spcPct val="0"/>
              </a:spcBef>
            </a:pPr>
            <a:r>
              <a:rPr lang="en-US" b="true" sz="687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Proposed Solution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97939" y="3034663"/>
            <a:ext cx="10911979" cy="587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6"/>
              </a:lnSpc>
              <a:spcBef>
                <a:spcPct val="0"/>
              </a:spcBef>
            </a:pPr>
            <a:r>
              <a:rPr lang="en-US" b="true" sz="349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Meet BidWiz: The Autonomous Proposal Architect.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09460" y="4755714"/>
            <a:ext cx="14055011" cy="2074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6"/>
              </a:lnSpc>
              <a:spcBef>
                <a:spcPct val="0"/>
              </a:spcBef>
            </a:pPr>
            <a:r>
              <a:rPr lang="en-US" sz="29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Input: Upload a raw PDF (Knowledge Base).</a:t>
            </a:r>
          </a:p>
          <a:p>
            <a:pPr algn="l">
              <a:lnSpc>
                <a:spcPts val="4156"/>
              </a:lnSpc>
              <a:spcBef>
                <a:spcPct val="0"/>
              </a:spcBef>
            </a:pPr>
            <a:r>
              <a:rPr lang="en-US" sz="29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Process: The AI reasons, drafts, reviews, and formats.</a:t>
            </a:r>
          </a:p>
          <a:p>
            <a:pPr algn="l">
              <a:lnSpc>
                <a:spcPts val="4156"/>
              </a:lnSpc>
              <a:spcBef>
                <a:spcPct val="0"/>
              </a:spcBef>
            </a:pPr>
            <a:r>
              <a:rPr lang="en-US" sz="29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Output: A professional, timestamped PDF emailed directly to the stakeholder.</a:t>
            </a:r>
          </a:p>
          <a:p>
            <a:pPr algn="l">
              <a:lnSpc>
                <a:spcPts val="4156"/>
              </a:lnSpc>
              <a:spcBef>
                <a:spcPct val="0"/>
              </a:spcBef>
            </a:pPr>
            <a:r>
              <a:rPr lang="en-US" sz="29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Metric: "Reduces Time-to-Draft from 3 days to 30 minutes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812741" y="1028700"/>
            <a:ext cx="1506242" cy="1137213"/>
          </a:xfrm>
          <a:custGeom>
            <a:avLst/>
            <a:gdLst/>
            <a:ahLst/>
            <a:cxnLst/>
            <a:rect r="r" b="b" t="t" l="l"/>
            <a:pathLst>
              <a:path h="1137213" w="1506242">
                <a:moveTo>
                  <a:pt x="0" y="0"/>
                </a:moveTo>
                <a:lnTo>
                  <a:pt x="1506242" y="0"/>
                </a:lnTo>
                <a:lnTo>
                  <a:pt x="1506242" y="1137213"/>
                </a:lnTo>
                <a:lnTo>
                  <a:pt x="0" y="11372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7647">
            <a:off x="581004" y="666750"/>
            <a:ext cx="17127897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80073" y="9536058"/>
            <a:ext cx="17127855" cy="3810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385303">
            <a:off x="-3856051" y="5103785"/>
            <a:ext cx="8912251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85303">
            <a:off x="13233704" y="5103785"/>
            <a:ext cx="8912251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7553623" y="9636276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55997" y="1195131"/>
            <a:ext cx="11852629" cy="117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4"/>
              </a:lnSpc>
              <a:spcBef>
                <a:spcPct val="0"/>
              </a:spcBef>
            </a:pPr>
            <a:r>
              <a:rPr lang="en-US" b="true" sz="687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Under the Hood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64139" y="4076093"/>
            <a:ext cx="14159722" cy="3120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6"/>
              </a:lnSpc>
            </a:pPr>
          </a:p>
          <a:p>
            <a:pPr algn="l" marL="1281867" indent="-427289" lvl="2">
              <a:lnSpc>
                <a:spcPts val="4156"/>
              </a:lnSpc>
              <a:spcBef>
                <a:spcPct val="0"/>
              </a:spcBef>
              <a:buFont typeface="Arial"/>
              <a:buChar char="⚬"/>
            </a:pPr>
            <a:r>
              <a:rPr lang="en-US" sz="29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Fro</a:t>
            </a:r>
            <a:r>
              <a:rPr lang="en-US" sz="29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ntend: React + TypeScript for Enterprise reliability.</a:t>
            </a:r>
          </a:p>
          <a:p>
            <a:pPr algn="l" marL="1281867" indent="-427289" lvl="2">
              <a:lnSpc>
                <a:spcPts val="4156"/>
              </a:lnSpc>
              <a:spcBef>
                <a:spcPct val="0"/>
              </a:spcBef>
              <a:buFont typeface="Arial"/>
              <a:buChar char="⚬"/>
            </a:pPr>
            <a:r>
              <a:rPr lang="en-US" sz="29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Inference: Groq LPU integration for real-time token generation (Speed).</a:t>
            </a:r>
          </a:p>
          <a:p>
            <a:pPr algn="l" marL="1281867" indent="-427289" lvl="2">
              <a:lnSpc>
                <a:spcPts val="4156"/>
              </a:lnSpc>
              <a:spcBef>
                <a:spcPct val="0"/>
              </a:spcBef>
              <a:buFont typeface="Arial"/>
              <a:buChar char="⚬"/>
            </a:pPr>
            <a:r>
              <a:rPr lang="en-US" sz="29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RAG: Local FAISS embeddings for data privacy (Security)3.</a:t>
            </a:r>
          </a:p>
          <a:p>
            <a:pPr algn="l" marL="1281867" indent="-427289" lvl="2">
              <a:lnSpc>
                <a:spcPts val="4156"/>
              </a:lnSpc>
              <a:spcBef>
                <a:spcPct val="0"/>
              </a:spcBef>
              <a:buFont typeface="Arial"/>
              <a:buChar char="⚬"/>
            </a:pPr>
            <a:r>
              <a:rPr lang="en-US" sz="29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Automation: Python ReportLab + SMTP for physical artifact generation.</a:t>
            </a:r>
          </a:p>
          <a:p>
            <a:pPr algn="l">
              <a:lnSpc>
                <a:spcPts val="4156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812741" y="1028700"/>
            <a:ext cx="1506242" cy="1137213"/>
          </a:xfrm>
          <a:custGeom>
            <a:avLst/>
            <a:gdLst/>
            <a:ahLst/>
            <a:cxnLst/>
            <a:rect r="r" b="b" t="t" l="l"/>
            <a:pathLst>
              <a:path h="1137213" w="1506242">
                <a:moveTo>
                  <a:pt x="0" y="0"/>
                </a:moveTo>
                <a:lnTo>
                  <a:pt x="1506242" y="0"/>
                </a:lnTo>
                <a:lnTo>
                  <a:pt x="1506242" y="1137213"/>
                </a:lnTo>
                <a:lnTo>
                  <a:pt x="0" y="11372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7647">
            <a:off x="581004" y="666750"/>
            <a:ext cx="17127897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80073" y="9536058"/>
            <a:ext cx="17127855" cy="3810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581025" y="661987"/>
            <a:ext cx="38100" cy="891217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85303">
            <a:off x="13233704" y="5103785"/>
            <a:ext cx="8912251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7553623" y="9636276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22602" y="1133492"/>
            <a:ext cx="11852629" cy="109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67"/>
              </a:lnSpc>
              <a:spcBef>
                <a:spcPct val="0"/>
              </a:spcBef>
            </a:pPr>
            <a:r>
              <a:rPr lang="en-US" b="true" sz="638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Market &amp; Business Viability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22602" y="4305086"/>
            <a:ext cx="12235634" cy="233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  <a:spcBef>
                <a:spcPct val="0"/>
              </a:spcBef>
            </a:pPr>
            <a:r>
              <a:rPr lang="en-US" sz="26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TAM (Total Addressable Market): $3.1 Billion Proposal Software Market4.</a:t>
            </a:r>
          </a:p>
          <a:p>
            <a:pPr algn="l">
              <a:lnSpc>
                <a:spcPts val="3746"/>
              </a:lnSpc>
              <a:spcBef>
                <a:spcPct val="0"/>
              </a:spcBef>
            </a:pPr>
            <a:r>
              <a:rPr lang="en-US" sz="26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Target Users: Enterprise Sales Teams, Government Contractors, and Software Houses555555555.</a:t>
            </a:r>
          </a:p>
          <a:p>
            <a:pPr algn="l">
              <a:lnSpc>
                <a:spcPts val="3746"/>
              </a:lnSpc>
              <a:spcBef>
                <a:spcPct val="0"/>
              </a:spcBef>
            </a:pPr>
            <a:r>
              <a:rPr lang="en-US" sz="26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Business Model: Tiered SaaS (Freemium for startups, Per-Seat License for Enterprise).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39863" y="2906908"/>
            <a:ext cx="8410179" cy="68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6"/>
              </a:lnSpc>
              <a:spcBef>
                <a:spcPct val="0"/>
              </a:spcBef>
            </a:pPr>
            <a:r>
              <a:rPr lang="en-US" b="true" sz="401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$3.1 Billion Market Opportunity.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812741" y="1028700"/>
            <a:ext cx="1506242" cy="1137213"/>
          </a:xfrm>
          <a:custGeom>
            <a:avLst/>
            <a:gdLst/>
            <a:ahLst/>
            <a:cxnLst/>
            <a:rect r="r" b="b" t="t" l="l"/>
            <a:pathLst>
              <a:path h="1137213" w="1506242">
                <a:moveTo>
                  <a:pt x="0" y="0"/>
                </a:moveTo>
                <a:lnTo>
                  <a:pt x="1506242" y="0"/>
                </a:lnTo>
                <a:lnTo>
                  <a:pt x="1506242" y="1137213"/>
                </a:lnTo>
                <a:lnTo>
                  <a:pt x="0" y="11372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7647">
            <a:off x="581004" y="666750"/>
            <a:ext cx="17127897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80073" y="9536058"/>
            <a:ext cx="17127855" cy="3810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581025" y="661987"/>
            <a:ext cx="38100" cy="891217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85303">
            <a:off x="13233704" y="5103785"/>
            <a:ext cx="8912251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7553623" y="9636276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22602" y="1164384"/>
            <a:ext cx="11852629" cy="109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67"/>
              </a:lnSpc>
              <a:spcBef>
                <a:spcPct val="0"/>
              </a:spcBef>
            </a:pPr>
            <a:r>
              <a:rPr lang="en-US" b="true" sz="638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Competitive Advantage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22602" y="4305086"/>
            <a:ext cx="12235634" cy="233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7784" indent="-288892" lvl="1">
              <a:lnSpc>
                <a:spcPts val="3746"/>
              </a:lnSpc>
              <a:spcBef>
                <a:spcPct val="0"/>
              </a:spcBef>
              <a:buFont typeface="Arial"/>
              <a:buChar char="•"/>
            </a:pPr>
            <a:r>
              <a:rPr lang="en-US" sz="26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vs.</a:t>
            </a:r>
            <a:r>
              <a:rPr lang="en-US" sz="26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Manual: 90% Faster6.</a:t>
            </a:r>
          </a:p>
          <a:p>
            <a:pPr algn="l" marL="577784" indent="-288892" lvl="1">
              <a:lnSpc>
                <a:spcPts val="3746"/>
              </a:lnSpc>
              <a:spcBef>
                <a:spcPct val="0"/>
              </a:spcBef>
              <a:buFont typeface="Arial"/>
              <a:buChar char="•"/>
            </a:pPr>
            <a:r>
              <a:rPr lang="en-US" sz="26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vs. Legacy Software: We use Cognition (Reasoning), not just Keywords7.</a:t>
            </a:r>
          </a:p>
          <a:p>
            <a:pPr algn="l" marL="577784" indent="-288892" lvl="1">
              <a:lnSpc>
                <a:spcPts val="3746"/>
              </a:lnSpc>
              <a:spcBef>
                <a:spcPct val="0"/>
              </a:spcBef>
              <a:buFont typeface="Arial"/>
              <a:buChar char="•"/>
            </a:pPr>
            <a:r>
              <a:rPr lang="en-US" sz="26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vs. Generic AI: We solve "Hallucination" via a Critic Agent Loop (The self-correction mechanism)8.</a:t>
            </a:r>
          </a:p>
          <a:p>
            <a:pPr algn="l">
              <a:lnSpc>
                <a:spcPts val="3746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812741" y="1028700"/>
            <a:ext cx="1506242" cy="1137213"/>
          </a:xfrm>
          <a:custGeom>
            <a:avLst/>
            <a:gdLst/>
            <a:ahLst/>
            <a:cxnLst/>
            <a:rect r="r" b="b" t="t" l="l"/>
            <a:pathLst>
              <a:path h="1137213" w="1506242">
                <a:moveTo>
                  <a:pt x="0" y="0"/>
                </a:moveTo>
                <a:lnTo>
                  <a:pt x="1506242" y="0"/>
                </a:lnTo>
                <a:lnTo>
                  <a:pt x="1506242" y="1137213"/>
                </a:lnTo>
                <a:lnTo>
                  <a:pt x="0" y="11372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7647">
            <a:off x="581004" y="666750"/>
            <a:ext cx="17127897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80073" y="9536058"/>
            <a:ext cx="17127855" cy="3810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581025" y="661987"/>
            <a:ext cx="38100" cy="891217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85303">
            <a:off x="13233704" y="5103785"/>
            <a:ext cx="8912251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2549519" y="2258986"/>
            <a:ext cx="13188961" cy="6754642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553623" y="9636276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22602" y="1164384"/>
            <a:ext cx="11852629" cy="109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67"/>
              </a:lnSpc>
              <a:spcBef>
                <a:spcPct val="0"/>
              </a:spcBef>
            </a:pPr>
            <a:r>
              <a:rPr lang="en-US" b="true" sz="638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Live Demo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812741" y="1028700"/>
            <a:ext cx="1506242" cy="1137213"/>
          </a:xfrm>
          <a:custGeom>
            <a:avLst/>
            <a:gdLst/>
            <a:ahLst/>
            <a:cxnLst/>
            <a:rect r="r" b="b" t="t" l="l"/>
            <a:pathLst>
              <a:path h="1137213" w="1506242">
                <a:moveTo>
                  <a:pt x="0" y="0"/>
                </a:moveTo>
                <a:lnTo>
                  <a:pt x="1506242" y="0"/>
                </a:lnTo>
                <a:lnTo>
                  <a:pt x="1506242" y="1137213"/>
                </a:lnTo>
                <a:lnTo>
                  <a:pt x="0" y="11372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7647">
            <a:off x="581004" y="666750"/>
            <a:ext cx="17127897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80073" y="9536058"/>
            <a:ext cx="17127855" cy="3810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581025" y="661987"/>
            <a:ext cx="38100" cy="891217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85303">
            <a:off x="13233704" y="5103785"/>
            <a:ext cx="8912251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7553623" y="9636276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5322" y="4360505"/>
            <a:ext cx="16059261" cy="1477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88"/>
              </a:lnSpc>
              <a:spcBef>
                <a:spcPct val="0"/>
              </a:spcBef>
            </a:pPr>
            <a:r>
              <a:rPr lang="en-US" b="true" sz="8657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Thank you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812741" y="1028700"/>
            <a:ext cx="1506242" cy="1137213"/>
          </a:xfrm>
          <a:custGeom>
            <a:avLst/>
            <a:gdLst/>
            <a:ahLst/>
            <a:cxnLst/>
            <a:rect r="r" b="b" t="t" l="l"/>
            <a:pathLst>
              <a:path h="1137213" w="1506242">
                <a:moveTo>
                  <a:pt x="0" y="0"/>
                </a:moveTo>
                <a:lnTo>
                  <a:pt x="1506242" y="0"/>
                </a:lnTo>
                <a:lnTo>
                  <a:pt x="1506242" y="1137213"/>
                </a:lnTo>
                <a:lnTo>
                  <a:pt x="0" y="11372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DAG43rwOFJU</dc:identifier>
  <dcterms:modified xsi:type="dcterms:W3CDTF">2011-08-01T06:04:30Z</dcterms:modified>
  <cp:revision>1</cp:revision>
  <dc:title>Team Krkurliengy.pptx</dc:title>
</cp:coreProperties>
</file>